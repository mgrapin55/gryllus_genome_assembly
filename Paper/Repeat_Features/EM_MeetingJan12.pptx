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4BA1BA-A0BB-4347-A097-FAD83BD54CD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70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3678A-115D-4A61-9FBE-3187CD01D5EC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27A29-DDFD-4491-83BB-79E2CF55A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19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27A29-DDFD-4491-83BB-79E2CF55A5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03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6637-CE4B-D645-EF6C-1D06E2803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D4863-C46E-A8DE-21C0-4F780626B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705EC-C7DF-C0FA-9506-C63CA723C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D9E6D-5C11-1F60-A2E3-B5E6F8AC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09D2-28CB-5EB1-6095-716AED80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8594-9AF5-127A-6D89-999DC966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1BA76-49BC-7437-D288-AA24CADB6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2556D-5788-2943-0906-85301766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B26BF-4407-8EA0-A6C8-01E93EFE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35C15-4E97-E606-F414-7ED82535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3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D5E3-6E5B-237A-6F15-428F8029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8B12B-702A-E749-E8F4-0A5696D17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586C-F990-76AC-0440-92B83DFF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3D18C-F942-C521-C09F-87E71151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D2EB1-98EC-A82F-FB50-D86DF0301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3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33D2-EE98-9CCD-0A45-39712037E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99383-AEDB-582E-28DE-86C488A74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F5DB6-A749-7D8E-FA88-E5BDA26B0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E2C2F-454B-7D1A-B3E1-7BE66513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5D19A-2C53-5B33-02DC-4073AA93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3D9B6-6E24-B552-13ED-7EB31AA4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34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7D96-3497-DC01-1F88-948BC870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94B13-6F75-B6E2-6445-CF99ECD54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E0813-F3DD-FA44-BFFE-508D473C9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5D714-CFF5-0DC1-A9A9-F4EE1863D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1411A-9085-DB7E-7BFC-51AF4E99E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77A09-5168-F3BD-D840-C25864D3D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A2D015-D017-8012-E1A8-398ED5AEB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CEB5C-42C0-9CF4-08F2-F06B3F78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99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F0E9E-59AA-C24F-0CAA-678E35DF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4665F-59E4-6AF8-1C5A-35FFCC03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0820F-863D-73E7-F652-585E5B5A3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75C3B-C9B5-1F0B-7465-22BAA1D0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2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0BD0B-6823-E040-4B31-229132AE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96FFE-367F-9F08-0A18-53B9A201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67CD4-52DF-BAD6-6BC7-9A27BAF8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94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1D57-FA74-7247-EFD1-5074E1E8B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16677-D405-C6E8-89A3-9AEFAC14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60473-C8B0-5A10-1781-2CCAD79EF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ACDF5-FD05-51D1-AB81-F317423A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1E2D3-5286-E671-6C73-DF53AFF5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A4B31-27FE-18C8-9F85-606C2564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0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7900D-50E7-9A58-E8AA-FFF73B62B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261348-FB68-87EC-292B-7E84B50A1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4A26-7FB8-458B-9755-22F157E27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5218B-C4FA-9DD9-0075-F4B21101F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FC542-C5C1-F3C3-22A6-C54A9207F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3793C-3179-7976-A3F9-616514A8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2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4636-53EC-FCBA-8872-A4A12B25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9572F-EFC4-DDA3-3D5F-6A4D9F5AE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D7B0F-D528-0DBD-E0F9-D629885E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B3B1D-9624-3CD1-219E-02B109AB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20C73-BBA0-ED51-6E5A-7469D59A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1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BF8F1-D5CE-3D52-D144-CC672A243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9A7AC-605E-F95D-FA89-6872DDAAA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0E34E-7639-FB13-DE4B-2CCE8AF6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E59E6-374C-E756-E56E-20223D1D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0AC0B-70DC-93DA-2D74-8A940379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0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AD8E6-9F85-A351-D535-2EEE5753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A1EE8-5515-CCF2-F0C9-0C42DD7A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E06F2-CB30-3615-C725-4BB1A2703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20392-1279-4B24-9D42-6E50E211214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24065-7B64-9F5C-73F9-573611151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ED7E-8991-4ADE-004E-EE8D95B50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340CC-A5B0-4092-8040-5F32F59A2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7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E789-6918-4F1D-7199-5ABCD39A5C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Repeat Feature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FC93E-15DD-9789-78B9-9A9320E6D7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G.pennsylvanicus</a:t>
            </a:r>
            <a:r>
              <a:rPr lang="en-US" i="1" dirty="0"/>
              <a:t> </a:t>
            </a:r>
            <a:r>
              <a:rPr lang="en-US" dirty="0"/>
              <a:t>compared to </a:t>
            </a:r>
            <a:r>
              <a:rPr lang="en-US" i="1" dirty="0" err="1"/>
              <a:t>G.firmus</a:t>
            </a:r>
            <a:r>
              <a:rPr lang="en-US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8731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BE2DF-FDDE-BE5A-CCF4-AACF9E09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of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48A9A-DBDC-D073-3C1A-57F6353F8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Genome </a:t>
            </a:r>
          </a:p>
          <a:p>
            <a:endParaRPr lang="en-US" dirty="0"/>
          </a:p>
          <a:p>
            <a:r>
              <a:rPr lang="en-US" dirty="0"/>
              <a:t>Chromosomes</a:t>
            </a:r>
          </a:p>
          <a:p>
            <a:pPr lvl="1"/>
            <a:r>
              <a:rPr lang="en-US" dirty="0"/>
              <a:t>X Chromosome + Chromosome 1:14 </a:t>
            </a:r>
          </a:p>
          <a:p>
            <a:pPr lvl="1"/>
            <a:r>
              <a:rPr lang="en-US" dirty="0"/>
              <a:t>Left out Unplaced chromosomes, for some analysis because they are aggregated which throws off calculations </a:t>
            </a:r>
          </a:p>
          <a:p>
            <a:endParaRPr lang="en-US" dirty="0"/>
          </a:p>
          <a:p>
            <a:r>
              <a:rPr lang="en-US" dirty="0"/>
              <a:t>Chromosome &lt;Feature&gt;</a:t>
            </a:r>
          </a:p>
          <a:p>
            <a:pPr lvl="1"/>
            <a:r>
              <a:rPr lang="en-US" dirty="0"/>
              <a:t>Features == Class (</a:t>
            </a:r>
            <a:r>
              <a:rPr lang="en-US" dirty="0" err="1"/>
              <a:t>i.e</a:t>
            </a:r>
            <a:r>
              <a:rPr lang="en-US" dirty="0"/>
              <a:t> SINE, LINE, etc.) </a:t>
            </a:r>
          </a:p>
          <a:p>
            <a:pPr lvl="1"/>
            <a:r>
              <a:rPr lang="en-US" dirty="0"/>
              <a:t>Features == </a:t>
            </a:r>
            <a:r>
              <a:rPr lang="en-US" dirty="0" err="1"/>
              <a:t>Class_Family</a:t>
            </a:r>
            <a:r>
              <a:rPr lang="en-US" dirty="0"/>
              <a:t> (i.e. LTR/Gypsy) </a:t>
            </a:r>
          </a:p>
        </p:txBody>
      </p:sp>
    </p:spTree>
    <p:extLst>
      <p:ext uri="{BB962C8B-B14F-4D97-AF65-F5344CB8AC3E}">
        <p14:creationId xmlns:p14="http://schemas.microsoft.com/office/powerpoint/2010/main" val="108492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F3A33-3068-186F-1DF7-3B4A3A9F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Takeaway!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858F7-622C-C4DA-E1EB-B273322E9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Having shared the same evolution time and being sister species…</a:t>
            </a:r>
          </a:p>
          <a:p>
            <a:pPr marL="0" indent="0">
              <a:buNone/>
            </a:pPr>
            <a:r>
              <a:rPr lang="en-US" dirty="0"/>
              <a:t>there is not massive structural differences.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Though there are some smaller differences. Just have to test them statistically. </a:t>
            </a:r>
          </a:p>
        </p:txBody>
      </p:sp>
    </p:spTree>
    <p:extLst>
      <p:ext uri="{BB962C8B-B14F-4D97-AF65-F5344CB8AC3E}">
        <p14:creationId xmlns:p14="http://schemas.microsoft.com/office/powerpoint/2010/main" val="300125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E564-E616-5D92-9D44-53B5502B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trying to measure?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698E8-FA91-EA1F-BB10-F266E62C7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469" y="1460500"/>
            <a:ext cx="10515600" cy="5397500"/>
          </a:xfrm>
        </p:spPr>
        <p:txBody>
          <a:bodyPr/>
          <a:lstStyle/>
          <a:p>
            <a:r>
              <a:rPr lang="en-US" dirty="0"/>
              <a:t>Localization </a:t>
            </a:r>
          </a:p>
          <a:p>
            <a:pPr lvl="1"/>
            <a:r>
              <a:rPr lang="en-US" dirty="0"/>
              <a:t>Where are repeats located? </a:t>
            </a:r>
          </a:p>
          <a:p>
            <a:pPr lvl="1"/>
            <a:r>
              <a:rPr lang="en-US" dirty="0"/>
              <a:t>What are there spatial trends?</a:t>
            </a:r>
          </a:p>
          <a:p>
            <a:pPr lvl="2"/>
            <a:r>
              <a:rPr lang="en-US" dirty="0"/>
              <a:t>Dense? Evenly Distrusted?</a:t>
            </a:r>
          </a:p>
          <a:p>
            <a:pPr lvl="2"/>
            <a:endParaRPr lang="en-US" dirty="0"/>
          </a:p>
          <a:p>
            <a:r>
              <a:rPr lang="en-US" dirty="0"/>
              <a:t>Divergence</a:t>
            </a:r>
          </a:p>
          <a:p>
            <a:pPr lvl="1"/>
            <a:r>
              <a:rPr lang="en-US" dirty="0"/>
              <a:t>How old are various repeats? </a:t>
            </a:r>
          </a:p>
          <a:p>
            <a:pPr lvl="2"/>
            <a:r>
              <a:rPr lang="en-US" dirty="0"/>
              <a:t>~ 0-5% considered young (little time for mutations to accumulate) </a:t>
            </a:r>
          </a:p>
          <a:p>
            <a:pPr lvl="2"/>
            <a:r>
              <a:rPr lang="en-US" dirty="0"/>
              <a:t>~ 20% + considered old/ancestral (time to diverge from the consensus sequence)</a:t>
            </a:r>
          </a:p>
          <a:p>
            <a:pPr lvl="2"/>
            <a:endParaRPr lang="en-US" dirty="0"/>
          </a:p>
          <a:p>
            <a:r>
              <a:rPr lang="en-US" dirty="0"/>
              <a:t>Correlation between Localization and Divergence</a:t>
            </a:r>
          </a:p>
          <a:p>
            <a:pPr lvl="1"/>
            <a:r>
              <a:rPr lang="en-US" dirty="0"/>
              <a:t>(i.e. Are locally dense groups also younger?)  </a:t>
            </a:r>
          </a:p>
          <a:p>
            <a:r>
              <a:rPr lang="en-US" dirty="0"/>
              <a:t>Magnitude…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78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E893-70D5-1237-DD29-887F500A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 Scale Combinatorially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21C38-F850-9B71-7BBF-7C41CD727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Species X 15 Chromosomes X ~95 Class/Families = A lot of plots…</a:t>
            </a:r>
          </a:p>
          <a:p>
            <a:endParaRPr lang="en-US" dirty="0"/>
          </a:p>
          <a:p>
            <a:r>
              <a:rPr lang="en-US" dirty="0"/>
              <a:t>Luckily, most comparisons are not that different. Still there is a large sea of potential results to parse through. </a:t>
            </a:r>
          </a:p>
        </p:txBody>
      </p:sp>
    </p:spTree>
    <p:extLst>
      <p:ext uri="{BB962C8B-B14F-4D97-AF65-F5344CB8AC3E}">
        <p14:creationId xmlns:p14="http://schemas.microsoft.com/office/powerpoint/2010/main" val="56987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FC65-8355-B6B9-FDEA-D6CE0D16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01786-927A-C974-EB6E-D0E6DB134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 Window Approach</a:t>
            </a:r>
          </a:p>
          <a:p>
            <a:pPr lvl="1"/>
            <a:r>
              <a:rPr lang="en-US" dirty="0"/>
              <a:t>Cut genome/chromosomes up into fixed width windows and then compared features present in the window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Chosen: 1 Mb window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I believe you could vary the window size to give more or less resolution depending on your features of interest.</a:t>
            </a:r>
          </a:p>
        </p:txBody>
      </p:sp>
    </p:spTree>
    <p:extLst>
      <p:ext uri="{BB962C8B-B14F-4D97-AF65-F5344CB8AC3E}">
        <p14:creationId xmlns:p14="http://schemas.microsoft.com/office/powerpoint/2010/main" val="137855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CE50-BEFA-1612-AA09-B2B4D3B3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on a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097B-F8B6-BBC2-BD97-EDDFD088F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is key to understanding the data </a:t>
            </a:r>
          </a:p>
          <a:p>
            <a:pPr lvl="1"/>
            <a:r>
              <a:rPr lang="en-US" dirty="0"/>
              <a:t>Disclaimer: I did the iterative approach first and then tried to summarize… </a:t>
            </a:r>
          </a:p>
          <a:p>
            <a:pPr lvl="1"/>
            <a:endParaRPr lang="en-US" dirty="0"/>
          </a:p>
          <a:p>
            <a:r>
              <a:rPr lang="en-US" dirty="0"/>
              <a:t>Big Picture Idea: (2 Species Scenario)</a:t>
            </a:r>
          </a:p>
          <a:p>
            <a:pPr lvl="1"/>
            <a:r>
              <a:rPr lang="en-US" dirty="0"/>
              <a:t>X axis = Genomic Position ( Windows of 1 Mb) </a:t>
            </a:r>
          </a:p>
          <a:p>
            <a:pPr lvl="1"/>
            <a:r>
              <a:rPr lang="en-US" dirty="0"/>
              <a:t>Y axis = Difference in Density </a:t>
            </a:r>
          </a:p>
          <a:p>
            <a:pPr lvl="2"/>
            <a:r>
              <a:rPr lang="en-US" dirty="0"/>
              <a:t>Net = </a:t>
            </a:r>
            <a:r>
              <a:rPr lang="en-US" dirty="0" err="1"/>
              <a:t>Gfirm.elementDensity</a:t>
            </a:r>
            <a:r>
              <a:rPr lang="en-US" dirty="0"/>
              <a:t> – </a:t>
            </a:r>
            <a:r>
              <a:rPr lang="en-US" dirty="0" err="1"/>
              <a:t>Gpenn.elementDensity</a:t>
            </a:r>
            <a:r>
              <a:rPr lang="en-US" dirty="0"/>
              <a:t>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Overlapping windows only. </a:t>
            </a:r>
          </a:p>
          <a:p>
            <a:pPr lvl="2"/>
            <a:r>
              <a:rPr lang="en-US" dirty="0"/>
              <a:t>Element Density = Number of Features in each 1 mb window</a:t>
            </a:r>
          </a:p>
          <a:p>
            <a:pPr lvl="2"/>
            <a:r>
              <a:rPr lang="en-US" dirty="0"/>
              <a:t>Feature = </a:t>
            </a:r>
            <a:r>
              <a:rPr lang="en-US" dirty="0" err="1"/>
              <a:t>RepeatMasker</a:t>
            </a:r>
            <a:r>
              <a:rPr lang="en-US" dirty="0"/>
              <a:t> *.out </a:t>
            </a:r>
            <a:r>
              <a:rPr lang="en-US" dirty="0" err="1"/>
              <a:t>class_family</a:t>
            </a:r>
            <a:r>
              <a:rPr lang="en-US" dirty="0"/>
              <a:t> classification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637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AF4513-DF98-9C98-598A-E01CECC1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502"/>
            <a:ext cx="12192000" cy="64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22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255D7-A486-C847-08C4-BA4EB6EA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577"/>
            <a:ext cx="12192000" cy="646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10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5C96-E040-BE1F-6CD4-559FC96F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592E-6F27-4F43-F695-C9663EE86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 0 : </a:t>
            </a:r>
            <a:r>
              <a:rPr lang="en-US" dirty="0" err="1"/>
              <a:t>Gfirm</a:t>
            </a:r>
            <a:r>
              <a:rPr lang="en-US" dirty="0"/>
              <a:t> is more dense in that region </a:t>
            </a:r>
          </a:p>
          <a:p>
            <a:r>
              <a:rPr lang="en-US" dirty="0"/>
              <a:t>&lt; 0 : </a:t>
            </a:r>
            <a:r>
              <a:rPr lang="en-US" dirty="0" err="1"/>
              <a:t>Gpen</a:t>
            </a:r>
            <a:r>
              <a:rPr lang="en-US" dirty="0"/>
              <a:t> is more dense in that region </a:t>
            </a:r>
          </a:p>
          <a:p>
            <a:r>
              <a:rPr lang="en-US" dirty="0"/>
              <a:t>= 0 : No difference in density at that region</a:t>
            </a:r>
          </a:p>
          <a:p>
            <a:endParaRPr lang="en-US" dirty="0"/>
          </a:p>
          <a:p>
            <a:r>
              <a:rPr lang="en-US" dirty="0"/>
              <a:t>Indicative of broad trends (differences) </a:t>
            </a:r>
          </a:p>
          <a:p>
            <a:endParaRPr lang="en-US" dirty="0"/>
          </a:p>
          <a:p>
            <a:r>
              <a:rPr lang="en-US" dirty="0"/>
              <a:t>At this scale, absolute magnitude is not super informative. </a:t>
            </a:r>
          </a:p>
        </p:txBody>
      </p:sp>
    </p:spTree>
    <p:extLst>
      <p:ext uri="{BB962C8B-B14F-4D97-AF65-F5344CB8AC3E}">
        <p14:creationId xmlns:p14="http://schemas.microsoft.com/office/powerpoint/2010/main" val="3575411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9EB5-3D68-536C-44EC-B575E33F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for a Paper Figure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3FA27-4410-EC7D-D37C-EBC73E2B5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7120"/>
            <a:ext cx="8113034" cy="431137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2AF242-22DF-33A3-2B04-8881E34DD7FA}"/>
              </a:ext>
            </a:extLst>
          </p:cNvPr>
          <p:cNvCxnSpPr/>
          <p:nvPr/>
        </p:nvCxnSpPr>
        <p:spPr>
          <a:xfrm flipV="1">
            <a:off x="6786880" y="1534160"/>
            <a:ext cx="1808480" cy="1249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5469B1-238F-E031-6062-042FE108375C}"/>
              </a:ext>
            </a:extLst>
          </p:cNvPr>
          <p:cNvCxnSpPr/>
          <p:nvPr/>
        </p:nvCxnSpPr>
        <p:spPr>
          <a:xfrm>
            <a:off x="6828817" y="2830749"/>
            <a:ext cx="22276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00FA1CF-A4E8-4EE5-DCD8-26E6C88E6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711" y="1358484"/>
            <a:ext cx="3318414" cy="13308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6A7295-CE9A-CB4F-796E-8C3F8101937A}"/>
              </a:ext>
            </a:extLst>
          </p:cNvPr>
          <p:cNvSpPr txBox="1"/>
          <p:nvPr/>
        </p:nvSpPr>
        <p:spPr>
          <a:xfrm>
            <a:off x="9221821" y="3803515"/>
            <a:ext cx="2500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Could also be rows of heatmap if we want to highlight more features</a:t>
            </a:r>
          </a:p>
        </p:txBody>
      </p:sp>
    </p:spTree>
    <p:extLst>
      <p:ext uri="{BB962C8B-B14F-4D97-AF65-F5344CB8AC3E}">
        <p14:creationId xmlns:p14="http://schemas.microsoft.com/office/powerpoint/2010/main" val="3664213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E194D9-9BF6-6755-AE67-E62D9EF60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03" y="0"/>
            <a:ext cx="85837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13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EC665-57E0-98DD-85DA-4F67339CE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59" y="0"/>
            <a:ext cx="102824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32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F44F6-40D5-5A73-3FA4-C3F66F9CA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47" y="0"/>
            <a:ext cx="102825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37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E63B-43E4-43EC-A6D5-89AB4993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Stats See Results.md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58D51-C002-7C22-244E-6DF40E59C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8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5F91-EC6B-8684-F2BF-0ED10E00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7D846-2934-40D4-6F25-9E54C211B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for regions of syntenic breaks and investigate those areas specifically </a:t>
            </a:r>
          </a:p>
          <a:p>
            <a:pPr lvl="1"/>
            <a:r>
              <a:rPr lang="en-US" dirty="0"/>
              <a:t>Synteny analysis coming from </a:t>
            </a:r>
            <a:r>
              <a:rPr lang="en-US" dirty="0" err="1"/>
              <a:t>alberto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Incorporate </a:t>
            </a:r>
            <a:r>
              <a:rPr lang="en-US" i="1" dirty="0" err="1"/>
              <a:t>G.assimilis</a:t>
            </a:r>
            <a:r>
              <a:rPr lang="en-US" i="1" dirty="0"/>
              <a:t> and </a:t>
            </a:r>
            <a:r>
              <a:rPr lang="en-US" i="1" dirty="0" err="1"/>
              <a:t>G.bimaculatus</a:t>
            </a:r>
            <a:r>
              <a:rPr lang="en-US" i="1" dirty="0"/>
              <a:t> repeat annotations</a:t>
            </a:r>
          </a:p>
          <a:p>
            <a:pPr lvl="1"/>
            <a:r>
              <a:rPr lang="en-US" dirty="0"/>
              <a:t>Reached out to authors for *.out files</a:t>
            </a:r>
          </a:p>
          <a:p>
            <a:pPr lvl="1"/>
            <a:endParaRPr lang="en-US" dirty="0"/>
          </a:p>
          <a:p>
            <a:r>
              <a:rPr lang="en-US" dirty="0"/>
              <a:t>Confirm stats test, and center self to narrow down results</a:t>
            </a:r>
          </a:p>
        </p:txBody>
      </p:sp>
    </p:spTree>
    <p:extLst>
      <p:ext uri="{BB962C8B-B14F-4D97-AF65-F5344CB8AC3E}">
        <p14:creationId xmlns:p14="http://schemas.microsoft.com/office/powerpoint/2010/main" val="4100009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478</Words>
  <Application>Microsoft Office PowerPoint</Application>
  <PresentationFormat>Widescreen</PresentationFormat>
  <Paragraphs>77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Repeat Feature Analysis</vt:lpstr>
      <vt:lpstr>Hierarchy of Comparisons</vt:lpstr>
      <vt:lpstr>Big Takeaway! </vt:lpstr>
      <vt:lpstr>What are we trying to measure? </vt:lpstr>
      <vt:lpstr>Comparisons Scale Combinatorially</vt:lpstr>
      <vt:lpstr>One Approach</vt:lpstr>
      <vt:lpstr>Putting it on a plot</vt:lpstr>
      <vt:lpstr>PowerPoint Presentation</vt:lpstr>
      <vt:lpstr>PowerPoint Presentation</vt:lpstr>
      <vt:lpstr>Interpretation </vt:lpstr>
      <vt:lpstr>Vision for a Paper Figure</vt:lpstr>
      <vt:lpstr>PowerPoint Presentation</vt:lpstr>
      <vt:lpstr>PowerPoint Presentation</vt:lpstr>
      <vt:lpstr>PowerPoint Presentation</vt:lpstr>
      <vt:lpstr>Stats See Results.md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Grapin, Michael S (GRAPIMS21)</dc:creator>
  <cp:lastModifiedBy>Grapin, Michael S (GRAPIMS21)</cp:lastModifiedBy>
  <cp:revision>2</cp:revision>
  <dcterms:created xsi:type="dcterms:W3CDTF">2026-01-12T16:56:46Z</dcterms:created>
  <dcterms:modified xsi:type="dcterms:W3CDTF">2026-01-12T21:54:05Z</dcterms:modified>
</cp:coreProperties>
</file>